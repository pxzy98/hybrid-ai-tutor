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choose our local model, we built a test of 110 questions about medical AI. The questions cover five skills: knowledge, concepts, calculation, applied reasoning and instruction following. Each skill has four difficulty levels with five questions each, and ten questions also have a Chinese version. We ran eleven local models, from 0.8 billion to 31 billion parameters, on our own GPU server. Most answers were graded automatically, and the six open questions per model were graded by hand. A model reaches a level when it answers at least four of five questions correctly at that level and at every level below. Finally, we repeated the test with thinking mode on for three Qwen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rises quickly from 69 percent at 0.8 billion parameters to 99 percent at 9 billion, and then it stays flat. So we choose qwen3.5 9B with thinking off as the default local model. It is correct on 99 percent of the questions, answers in about 2.7 seconds, and uses only 5.5 gigabytes of GPU memory. The larger dense models were three to four times slower with no measurable gain. Gemma 4 26B is a mixture-of-experts model: it has the same quality and is fast, but it needs much more memory. Two findings support our design. First, six of eleven models labelled a question with a student number as not sensitive, so PII detection must use rules, not a language model. Second, small models invented the author of a real paper, so factual answers need RAG and verification. One caveat: models from 9B up reached the top level everywhere, so the next round needs harder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752534"/>
            <a:ext cx="10566400" cy="4292666"/>
          </a:xfrm>
          <a:prstGeom prst="rect">
            <a:avLst/>
          </a:prstGeom>
          <a:noFill/>
          <a:ln/>
        </p:spPr>
        <p:txBody>
          <a:bodyPr wrap="square" lIns="0" tIns="0" rIns="0" bIns="0" rtlCol="0" anchor="t"/>
          <a:lstStyle>
            <a:lvl1pPr algn="l" indent="0" marL="0">
              <a:lnSpc>
                <a:spcPct val="140000"/>
              </a:lnSpc>
              <a:buNone/>
              <a:defRPr lang="en-US" sz="1600" dirty="0">
                <a:solidFill>
                  <a:srgbClr val="4A5568"/>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752534"/>
            <a:ext cx="10566400" cy="4292666"/>
          </a:xfrm>
          <a:prstGeom prst="rect">
            <a:avLst/>
          </a:prstGeom>
          <a:noFill/>
          <a:ln/>
        </p:spPr>
        <p:txBody>
          <a:bodyPr wrap="square" lIns="0" tIns="0" rIns="0" bIns="0" rtlCol="0" anchor="t"/>
          <a:lstStyle>
            <a:lvl1pPr algn="l" indent="0" marL="0">
              <a:lnSpc>
                <a:spcPct val="140000"/>
              </a:lnSpc>
              <a:buNone/>
              <a:defRPr lang="en-US" sz="1600" dirty="0">
                <a:solidFill>
                  <a:srgbClr val="4A5568"/>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6FD6"/>
                </a:solidFill>
                <a:latin typeface="Arial" pitchFamily="34" charset="0"/>
                <a:ea typeface="Arial" pitchFamily="34" charset="-122"/>
                <a:cs typeface="Arial" pitchFamily="34" charset="-120"/>
              </a:rPr>
              <a:t>LOCAL MODEL EVALUATION · METHOD</a:t>
            </a:r>
            <a:endParaRPr lang="en-US" sz="1200" dirty="0"/>
          </a:p>
        </p:txBody>
      </p:sp>
      <p:sp>
        <p:nvSpPr>
          <p:cNvPr id="3" name="Text 1"/>
          <p:cNvSpPr/>
          <p:nvPr>
            <p:ph type="title"/>
          </p:nvPr>
        </p:nvSpPr>
        <p:spPr>
          <a:xfrm>
            <a:off x="812800" y="1000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How we tested the local models</a:t>
            </a:r>
            <a:endParaRPr lang="en-US" sz="3200" dirty="0"/>
          </a:p>
        </p:txBody>
      </p:sp>
      <p:sp>
        <p:nvSpPr>
          <p:cNvPr id="4" name="Text 2"/>
          <p:cNvSpPr/>
          <p:nvPr/>
        </p:nvSpPr>
        <p:spPr>
          <a:xfrm>
            <a:off x="812800" y="1523934"/>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11 models from 0.8B to 31B · 110 synthetic medical-AI questions · 1,540 graded answers</a:t>
            </a:r>
            <a:endParaRPr lang="en-US" sz="1500" dirty="0"/>
          </a:p>
        </p:txBody>
      </p:sp>
      <p:sp>
        <p:nvSpPr>
          <p:cNvPr id="5" name="Text 3"/>
          <p:cNvSpPr/>
          <p:nvPr/>
        </p:nvSpPr>
        <p:spPr>
          <a:xfrm>
            <a:off x="812800" y="2019234"/>
            <a:ext cx="654840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Test set: 5 dimensions × 4 levels × 5 questions</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402748"/>
          <a:ext cx="6344973" cy="1995884"/>
        </p:xfrm>
        <a:graphic>
          <a:graphicData uri="http://schemas.openxmlformats.org/drawingml/2006/table">
            <a:tbl>
              <a:tblPr/>
              <a:tblGrid>
                <a:gridCol w="1649693"/>
                <a:gridCol w="2030391"/>
                <a:gridCol w="2664889"/>
              </a:tblGrid>
              <a:tr h="332647">
                <a:tc>
                  <a:txBody>
                    <a:bodyPr/>
                    <a:lstStyle/>
                    <a:p>
                      <a:pPr indent="0" marL="0">
                        <a:lnSpc>
                          <a:spcPts val="1680"/>
                        </a:lnSpc>
                        <a:buNone/>
                      </a:pPr>
                      <a:r>
                        <a:rPr lang="en-US" sz="1200" b="1" dirty="0">
                          <a:solidFill>
                            <a:srgbClr val="FBFBF8"/>
                          </a:solidFill>
                          <a:latin typeface="Arial" pitchFamily="34" charset="0"/>
                          <a:ea typeface="Arial" pitchFamily="34" charset="-122"/>
                          <a:cs typeface="Arial" pitchFamily="34" charset="-120"/>
                        </a:rPr>
                        <a:t>Dimension</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BFBF8"/>
                          </a:solidFill>
                          <a:latin typeface="Arial" pitchFamily="34" charset="0"/>
                          <a:ea typeface="Arial" pitchFamily="34" charset="-122"/>
                          <a:cs typeface="Arial" pitchFamily="34" charset="-120"/>
                        </a:rPr>
                        <a:t>L1 (easy)</a:t>
                      </a:r>
                      <a:endParaRPr lang="en-US" sz="1200" dirty="0">
                        <a:latin typeface="Arial" charset="0"/>
                        <a:ea typeface="Arial" charset="0"/>
                        <a:cs typeface="Arial"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BFBF8"/>
                          </a:solidFill>
                          <a:latin typeface="Arial" pitchFamily="34" charset="0"/>
                          <a:ea typeface="Arial" pitchFamily="34" charset="-122"/>
                          <a:cs typeface="Arial" pitchFamily="34" charset="-120"/>
                        </a:rPr>
                        <a:t>L4 (hard)</a:t>
                      </a:r>
                      <a:endParaRPr lang="en-US" sz="1200" dirty="0">
                        <a:latin typeface="Arial" charset="0"/>
                        <a:ea typeface="Arial" charset="0"/>
                        <a:cs typeface="Arial"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647">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Knowledge</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Common terms (CT, EHR)</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Rare facts, fake-paper traps</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Concept</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Definitions</a:t>
                      </a:r>
                      <a:endParaRPr lang="en-US" sz="1200" dirty="0">
                        <a:latin typeface="Arial" charset="0"/>
                        <a:ea typeface="Arial" charset="0"/>
                        <a:cs typeface="Arial" charset="0"/>
                      </a:endParaRPr>
                    </a:p>
                  </a:txBody>
                  <a:tcPr marL="53340" marR="53340" marT="53340" marB="53340" anchor="t">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Misconceptions (what AUC means)</a:t>
                      </a:r>
                      <a:endParaRPr lang="en-US" sz="1200" dirty="0">
                        <a:latin typeface="Arial" charset="0"/>
                        <a:ea typeface="Arial" charset="0"/>
                        <a:cs typeface="Arial" charset="0"/>
                      </a:endParaRPr>
                    </a:p>
                  </a:txBody>
                  <a:tcPr marL="53340" marR="53340" marT="53340" marB="53340" anchor="t">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r>
              <a:tr h="332647">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Calculation</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One formula</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Multi-step Bayes, sample size</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Applied reasoning</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Obvious mistakes</a:t>
                      </a:r>
                      <a:endParaRPr lang="en-US" sz="1200" dirty="0">
                        <a:latin typeface="Arial" charset="0"/>
                        <a:ea typeface="Arial" charset="0"/>
                        <a:cs typeface="Arial" charset="0"/>
                      </a:endParaRPr>
                    </a:p>
                  </a:txBody>
                  <a:tcPr marL="53340" marR="53340" marT="53340" marB="53340" anchor="t">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Hidden leakage, Simpson's paradox</a:t>
                      </a:r>
                      <a:endParaRPr lang="en-US" sz="1200" dirty="0">
                        <a:latin typeface="Arial" charset="0"/>
                        <a:ea typeface="Arial" charset="0"/>
                        <a:cs typeface="Arial" charset="0"/>
                      </a:endParaRPr>
                    </a:p>
                  </a:txBody>
                  <a:tcPr marL="53340" marR="53340" marT="53340" marB="53340" anchor="t">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r>
              <a:tr h="332647">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Instruction following</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One-sentence answer</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JSON output, Socratic hints</a:t>
                      </a:r>
                      <a:endParaRPr lang="en-US" sz="1200" dirty="0">
                        <a:latin typeface="Arial" charset="0"/>
                        <a:ea typeface="Arial" charset="0"/>
                        <a:cs typeface="Arial"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7" name="Text 4"/>
          <p:cNvSpPr/>
          <p:nvPr/>
        </p:nvSpPr>
        <p:spPr>
          <a:xfrm>
            <a:off x="812800" y="4525632"/>
            <a:ext cx="654840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+ 10 Chinese versions of English questions. Every calculation answer was computed with code.</a:t>
            </a:r>
            <a:endParaRPr lang="en-US" sz="1200" dirty="0"/>
          </a:p>
        </p:txBody>
      </p:sp>
      <p:sp>
        <p:nvSpPr>
          <p:cNvPr id="8" name="Text 5"/>
          <p:cNvSpPr/>
          <p:nvPr/>
        </p:nvSpPr>
        <p:spPr>
          <a:xfrm>
            <a:off x="7526073" y="2019234"/>
            <a:ext cx="396872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Process</a:t>
            </a:r>
            <a:endParaRPr lang="en-US" sz="1600" dirty="0"/>
          </a:p>
        </p:txBody>
      </p:sp>
      <p:sp>
        <p:nvSpPr>
          <p:cNvPr id="9" name="Shape 6"/>
          <p:cNvSpPr/>
          <p:nvPr/>
        </p:nvSpPr>
        <p:spPr>
          <a:xfrm>
            <a:off x="7538773" y="2402748"/>
            <a:ext cx="0" cy="731441"/>
          </a:xfrm>
          <a:prstGeom prst="line">
            <a:avLst/>
          </a:prstGeom>
          <a:noFill/>
          <a:ln w="25400">
            <a:solidFill>
              <a:srgbClr val="2A6FD6"/>
            </a:solidFill>
            <a:prstDash val="solid"/>
          </a:ln>
        </p:spPr>
      </p:sp>
      <p:sp>
        <p:nvSpPr>
          <p:cNvPr id="10" name="Text 7"/>
          <p:cNvSpPr/>
          <p:nvPr/>
        </p:nvSpPr>
        <p:spPr>
          <a:xfrm>
            <a:off x="7703873" y="2428148"/>
            <a:ext cx="3785587"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1 · Run</a:t>
            </a:r>
            <a:endParaRPr lang="en-US" sz="1300" dirty="0"/>
          </a:p>
        </p:txBody>
      </p:sp>
      <p:sp>
        <p:nvSpPr>
          <p:cNvPr id="11" name="Text 8"/>
          <p:cNvSpPr/>
          <p:nvPr/>
        </p:nvSpPr>
        <p:spPr>
          <a:xfrm>
            <a:off x="7703873" y="2697361"/>
            <a:ext cx="378558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Arial" pitchFamily="34" charset="0"/>
                <a:ea typeface="Arial" pitchFamily="34" charset="-122"/>
                <a:cs typeface="Arial" pitchFamily="34" charset="-120"/>
              </a:rPr>
              <a:t>Each model answers all questions on Ollama (RTX 2080 Ti 22GB), temperature 0, model preloaded.</a:t>
            </a:r>
            <a:endParaRPr lang="en-US" sz="1200" dirty="0"/>
          </a:p>
        </p:txBody>
      </p:sp>
      <p:sp>
        <p:nvSpPr>
          <p:cNvPr id="12" name="Shape 9"/>
          <p:cNvSpPr/>
          <p:nvPr/>
        </p:nvSpPr>
        <p:spPr>
          <a:xfrm>
            <a:off x="7538773" y="3273888"/>
            <a:ext cx="0" cy="731441"/>
          </a:xfrm>
          <a:prstGeom prst="line">
            <a:avLst/>
          </a:prstGeom>
          <a:noFill/>
          <a:ln w="25400">
            <a:solidFill>
              <a:srgbClr val="2A6FD6"/>
            </a:solidFill>
            <a:prstDash val="solid"/>
          </a:ln>
        </p:spPr>
      </p:sp>
      <p:sp>
        <p:nvSpPr>
          <p:cNvPr id="13" name="Text 10"/>
          <p:cNvSpPr/>
          <p:nvPr/>
        </p:nvSpPr>
        <p:spPr>
          <a:xfrm>
            <a:off x="7703873" y="3299288"/>
            <a:ext cx="3785587"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2 · Grade</a:t>
            </a:r>
            <a:endParaRPr lang="en-US" sz="1300" dirty="0"/>
          </a:p>
        </p:txBody>
      </p:sp>
      <p:sp>
        <p:nvSpPr>
          <p:cNvPr id="14" name="Text 11"/>
          <p:cNvSpPr/>
          <p:nvPr/>
        </p:nvSpPr>
        <p:spPr>
          <a:xfrm>
            <a:off x="7703873" y="3568502"/>
            <a:ext cx="378558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Arial" pitchFamily="34" charset="0"/>
                <a:ea typeface="Arial" pitchFamily="34" charset="-122"/>
                <a:cs typeface="Arial" pitchFamily="34" charset="-120"/>
              </a:rPr>
              <a:t>104 of 110 auto-graded (choice, number, format rules); 6 open answers graded by hand.</a:t>
            </a:r>
            <a:endParaRPr lang="en-US" sz="1200" dirty="0"/>
          </a:p>
        </p:txBody>
      </p:sp>
      <p:sp>
        <p:nvSpPr>
          <p:cNvPr id="15" name="Shape 12"/>
          <p:cNvSpPr/>
          <p:nvPr/>
        </p:nvSpPr>
        <p:spPr>
          <a:xfrm>
            <a:off x="7538773" y="4145029"/>
            <a:ext cx="0" cy="731441"/>
          </a:xfrm>
          <a:prstGeom prst="line">
            <a:avLst/>
          </a:prstGeom>
          <a:noFill/>
          <a:ln w="25400">
            <a:solidFill>
              <a:srgbClr val="2A6FD6"/>
            </a:solidFill>
            <a:prstDash val="solid"/>
          </a:ln>
        </p:spPr>
      </p:sp>
      <p:sp>
        <p:nvSpPr>
          <p:cNvPr id="16" name="Text 13"/>
          <p:cNvSpPr/>
          <p:nvPr/>
        </p:nvSpPr>
        <p:spPr>
          <a:xfrm>
            <a:off x="7703873" y="4170429"/>
            <a:ext cx="3785587"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3 · Find the boundary</a:t>
            </a:r>
            <a:endParaRPr lang="en-US" sz="1300" dirty="0"/>
          </a:p>
        </p:txBody>
      </p:sp>
      <p:sp>
        <p:nvSpPr>
          <p:cNvPr id="17" name="Text 14"/>
          <p:cNvSpPr/>
          <p:nvPr/>
        </p:nvSpPr>
        <p:spPr>
          <a:xfrm>
            <a:off x="7703873" y="4439642"/>
            <a:ext cx="378558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Arial" pitchFamily="34" charset="0"/>
                <a:ea typeface="Arial" pitchFamily="34" charset="-122"/>
                <a:cs typeface="Arial" pitchFamily="34" charset="-120"/>
              </a:rPr>
              <a:t>A level passes at 4/5 correct; boundary = highest level with all lower levels passed.</a:t>
            </a:r>
            <a:endParaRPr lang="en-US" sz="1200" dirty="0"/>
          </a:p>
        </p:txBody>
      </p:sp>
      <p:sp>
        <p:nvSpPr>
          <p:cNvPr id="18" name="Shape 15"/>
          <p:cNvSpPr/>
          <p:nvPr/>
        </p:nvSpPr>
        <p:spPr>
          <a:xfrm>
            <a:off x="7538773" y="5016169"/>
            <a:ext cx="0" cy="731441"/>
          </a:xfrm>
          <a:prstGeom prst="line">
            <a:avLst/>
          </a:prstGeom>
          <a:noFill/>
          <a:ln w="25400">
            <a:solidFill>
              <a:srgbClr val="E0612B"/>
            </a:solidFill>
            <a:prstDash val="solid"/>
          </a:ln>
        </p:spPr>
      </p:sp>
      <p:sp>
        <p:nvSpPr>
          <p:cNvPr id="19" name="Text 16"/>
          <p:cNvSpPr/>
          <p:nvPr/>
        </p:nvSpPr>
        <p:spPr>
          <a:xfrm>
            <a:off x="7703873" y="5041569"/>
            <a:ext cx="3785587"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4 · Thinking mode</a:t>
            </a:r>
            <a:endParaRPr lang="en-US" sz="1300" dirty="0"/>
          </a:p>
        </p:txBody>
      </p:sp>
      <p:sp>
        <p:nvSpPr>
          <p:cNvPr id="20" name="Text 17"/>
          <p:cNvSpPr/>
          <p:nvPr/>
        </p:nvSpPr>
        <p:spPr>
          <a:xfrm>
            <a:off x="7703873" y="5310783"/>
            <a:ext cx="378558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Arial" pitchFamily="34" charset="0"/>
                <a:ea typeface="Arial" pitchFamily="34" charset="-122"/>
                <a:cs typeface="Arial" pitchFamily="34" charset="-120"/>
              </a:rPr>
              <a:t>Repeated with thinking on for qwen3.5 4B, 9B and 27B.</a:t>
            </a:r>
            <a:endParaRPr lang="en-US" sz="1200" dirty="0"/>
          </a:p>
        </p:txBody>
      </p:sp>
      <p:sp>
        <p:nvSpPr>
          <p:cNvPr id="21"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ELG 5902 · Group 1 · Privacy-Aware Hybrid AI Tutor · Test run on Oct 6,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6FD6"/>
                </a:solidFill>
                <a:latin typeface="Arial" pitchFamily="34" charset="0"/>
                <a:ea typeface="Arial" pitchFamily="34" charset="-122"/>
                <a:cs typeface="Arial" pitchFamily="34" charset="-120"/>
              </a:rPr>
              <a:t>LOCAL MODEL EVALUATION · RESULTS</a:t>
            </a:r>
            <a:endParaRPr lang="en-US" sz="1200" dirty="0"/>
          </a:p>
        </p:txBody>
      </p:sp>
      <p:sp>
        <p:nvSpPr>
          <p:cNvPr id="3" name="Text 1"/>
          <p:cNvSpPr/>
          <p:nvPr>
            <p:ph type="title"/>
          </p:nvPr>
        </p:nvSpPr>
        <p:spPr>
          <a:xfrm>
            <a:off x="812800" y="1000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Results: a 9B model is enough for local answers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63634"/>
          <a:ext cx="5882283" cy="3991769"/>
        </p:xfrm>
        <a:graphic>
          <a:graphicData uri="http://schemas.openxmlformats.org/drawingml/2006/table">
            <a:tbl>
              <a:tblPr/>
              <a:tblGrid>
                <a:gridCol w="2352913"/>
                <a:gridCol w="882342"/>
                <a:gridCol w="882342"/>
                <a:gridCol w="882342"/>
                <a:gridCol w="882342"/>
              </a:tblGrid>
              <a:tr h="332647">
                <a:tc>
                  <a:txBody>
                    <a:bodyPr/>
                    <a:lstStyle/>
                    <a:p>
                      <a:pPr indent="0" marL="0">
                        <a:lnSpc>
                          <a:spcPts val="1680"/>
                        </a:lnSpc>
                        <a:buNone/>
                      </a:pPr>
                      <a:r>
                        <a:rPr lang="en-US" sz="1200" b="1" dirty="0">
                          <a:solidFill>
                            <a:srgbClr val="F4F6F9"/>
                          </a:solidFill>
                          <a:latin typeface="Arial" pitchFamily="34" charset="0"/>
                          <a:ea typeface="Arial" pitchFamily="34" charset="-122"/>
                          <a:cs typeface="Arial" pitchFamily="34" charset="-120"/>
                        </a:rPr>
                        <a:t>Model</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680"/>
                        </a:lnSpc>
                        <a:buNone/>
                      </a:pPr>
                      <a:r>
                        <a:rPr lang="en-US" sz="1200" b="1" dirty="0">
                          <a:solidFill>
                            <a:srgbClr val="F4F6F9"/>
                          </a:solidFill>
                          <a:latin typeface="Arial" pitchFamily="34" charset="0"/>
                          <a:ea typeface="Arial" pitchFamily="34" charset="-122"/>
                          <a:cs typeface="Arial" pitchFamily="34" charset="-120"/>
                        </a:rPr>
                        <a:t>Size (B)</a:t>
                      </a:r>
                      <a:endParaRPr lang="en-US" sz="1200" dirty="0">
                        <a:latin typeface="Arial" charset="0"/>
                        <a:ea typeface="Arial" charset="0"/>
                        <a:cs typeface="Arial"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680"/>
                        </a:lnSpc>
                        <a:buNone/>
                      </a:pPr>
                      <a:r>
                        <a:rPr lang="en-US" sz="1200" b="1" dirty="0">
                          <a:solidFill>
                            <a:srgbClr val="F4F6F9"/>
                          </a:solidFill>
                          <a:latin typeface="Arial" pitchFamily="34" charset="0"/>
                          <a:ea typeface="Arial" pitchFamily="34" charset="-122"/>
                          <a:cs typeface="Arial" pitchFamily="34" charset="-120"/>
                        </a:rPr>
                        <a:t>Correct</a:t>
                      </a:r>
                      <a:endParaRPr lang="en-US" sz="1200" dirty="0">
                        <a:latin typeface="Arial" charset="0"/>
                        <a:ea typeface="Arial" charset="0"/>
                        <a:cs typeface="Arial"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680"/>
                        </a:lnSpc>
                        <a:buNone/>
                      </a:pPr>
                      <a:r>
                        <a:rPr lang="en-US" sz="1200" b="1" dirty="0">
                          <a:solidFill>
                            <a:srgbClr val="F4F6F9"/>
                          </a:solidFill>
                          <a:latin typeface="Arial" pitchFamily="34" charset="0"/>
                          <a:ea typeface="Arial" pitchFamily="34" charset="-122"/>
                          <a:cs typeface="Arial" pitchFamily="34" charset="-120"/>
                        </a:rPr>
                        <a:t>Median s</a:t>
                      </a:r>
                      <a:endParaRPr lang="en-US" sz="1200" dirty="0">
                        <a:latin typeface="Arial" charset="0"/>
                        <a:ea typeface="Arial" charset="0"/>
                        <a:cs typeface="Arial"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680"/>
                        </a:lnSpc>
                        <a:buNone/>
                      </a:pPr>
                      <a:r>
                        <a:rPr lang="en-US" sz="1200" b="1" dirty="0">
                          <a:solidFill>
                            <a:srgbClr val="F4F6F9"/>
                          </a:solidFill>
                          <a:latin typeface="Arial" pitchFamily="34" charset="0"/>
                          <a:ea typeface="Arial" pitchFamily="34" charset="-122"/>
                          <a:cs typeface="Arial" pitchFamily="34" charset="-120"/>
                        </a:rPr>
                        <a:t>tok/s</a:t>
                      </a:r>
                      <a:endParaRPr lang="en-US" sz="1200" dirty="0">
                        <a:latin typeface="Arial" charset="0"/>
                        <a:ea typeface="Arial" charset="0"/>
                        <a:cs typeface="Arial"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647">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qwen3.5:0.8b</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0.8</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69%</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0.6</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236</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qwen3.5:2b</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80%</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1.4</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149</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gemma4:e2b</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2.3</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87%</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199</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qwen3.5:4b</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92%</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109</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gemma4:e4b</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4.5</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95%</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137</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qwen3.5:9b (default)</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B0B9C7"/>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0B9C7"/>
                      </a:solidFill>
                      <a:prstDash val="solid"/>
                      <a:round/>
                      <a:headEnd type="none" w="med" len="med"/>
                      <a:tailEnd type="none" w="med" len="med"/>
                    </a:lnB>
                    <a:solidFill>
                      <a:srgbClr val="DCE8FA"/>
                    </a:solidFill>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53340" marR="53340" marT="53340" marB="53340" anchor="t">
                    <a:lnL w="12700" cap="flat" cmpd="sng" algn="ctr">
                      <a:solidFill>
                        <a:srgbClr val="B0B9C7"/>
                      </a:solidFill>
                      <a:prstDash val="solid"/>
                      <a:round/>
                      <a:headEnd type="none" w="med" len="med"/>
                      <a:tailEnd type="none" w="med" len="med"/>
                    </a:lnL>
                    <a:lnR w="12700" cap="flat" cmpd="sng" algn="ctr">
                      <a:solidFill>
                        <a:srgbClr val="B0B9C7"/>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0B9C7"/>
                      </a:solidFill>
                      <a:prstDash val="solid"/>
                      <a:round/>
                      <a:headEnd type="none" w="med" len="med"/>
                      <a:tailEnd type="none" w="med" len="med"/>
                    </a:lnB>
                    <a:solidFill>
                      <a:srgbClr val="DCE8FA"/>
                    </a:solidFill>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99%</a:t>
                      </a:r>
                      <a:endParaRPr lang="en-US" sz="1200" dirty="0">
                        <a:latin typeface="Arial" charset="0"/>
                        <a:ea typeface="Arial" charset="0"/>
                        <a:cs typeface="Arial" charset="0"/>
                      </a:endParaRPr>
                    </a:p>
                  </a:txBody>
                  <a:tcPr marL="53340" marR="53340" marT="53340" marB="53340" anchor="t">
                    <a:lnL w="12700" cap="flat" cmpd="sng" algn="ctr">
                      <a:solidFill>
                        <a:srgbClr val="B0B9C7"/>
                      </a:solidFill>
                      <a:prstDash val="solid"/>
                      <a:round/>
                      <a:headEnd type="none" w="med" len="med"/>
                      <a:tailEnd type="none" w="med" len="med"/>
                    </a:lnL>
                    <a:lnR w="12700" cap="flat" cmpd="sng" algn="ctr">
                      <a:solidFill>
                        <a:srgbClr val="B0B9C7"/>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0B9C7"/>
                      </a:solidFill>
                      <a:prstDash val="solid"/>
                      <a:round/>
                      <a:headEnd type="none" w="med" len="med"/>
                      <a:tailEnd type="none" w="med" len="med"/>
                    </a:lnB>
                    <a:solidFill>
                      <a:srgbClr val="DCE8FA"/>
                    </a:solidFill>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2.7</a:t>
                      </a:r>
                      <a:endParaRPr lang="en-US" sz="1200" dirty="0">
                        <a:latin typeface="Arial" charset="0"/>
                        <a:ea typeface="Arial" charset="0"/>
                        <a:cs typeface="Arial" charset="0"/>
                      </a:endParaRPr>
                    </a:p>
                  </a:txBody>
                  <a:tcPr marL="53340" marR="53340" marT="53340" marB="53340" anchor="t">
                    <a:lnL w="12700" cap="flat" cmpd="sng" algn="ctr">
                      <a:solidFill>
                        <a:srgbClr val="B0B9C7"/>
                      </a:solidFill>
                      <a:prstDash val="solid"/>
                      <a:round/>
                      <a:headEnd type="none" w="med" len="med"/>
                      <a:tailEnd type="none" w="med" len="med"/>
                    </a:lnL>
                    <a:lnR w="12700" cap="flat" cmpd="sng" algn="ctr">
                      <a:solidFill>
                        <a:srgbClr val="B0B9C7"/>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0B9C7"/>
                      </a:solidFill>
                      <a:prstDash val="solid"/>
                      <a:round/>
                      <a:headEnd type="none" w="med" len="med"/>
                      <a:tailEnd type="none" w="med" len="med"/>
                    </a:lnB>
                    <a:solidFill>
                      <a:srgbClr val="DCE8FA"/>
                    </a:solidFill>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73</a:t>
                      </a:r>
                      <a:endParaRPr lang="en-US" sz="1200" dirty="0">
                        <a:latin typeface="Arial" charset="0"/>
                        <a:ea typeface="Arial" charset="0"/>
                        <a:cs typeface="Arial" charset="0"/>
                      </a:endParaRPr>
                    </a:p>
                  </a:txBody>
                  <a:tcPr marL="53340" marR="53340" marT="53340" marB="53340" anchor="t">
                    <a:lnL w="12700" cap="flat" cmpd="sng" algn="ctr">
                      <a:solidFill>
                        <a:srgbClr val="B0B9C7"/>
                      </a:solidFill>
                      <a:prstDash val="solid"/>
                      <a:round/>
                      <a:headEnd type="none" w="med" len="med"/>
                      <a:tailEnd type="none" w="med" len="med"/>
                    </a:lnL>
                    <a:lnR w="12700" cap="flat" cmpd="sng" algn="ctr">
                      <a:solidFill>
                        <a:srgbClr val="B0B9C7"/>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0B9C7"/>
                      </a:solidFill>
                      <a:prstDash val="solid"/>
                      <a:round/>
                      <a:headEnd type="none" w="med" len="med"/>
                      <a:tailEnd type="none" w="med" len="med"/>
                    </a:lnB>
                    <a:solidFill>
                      <a:srgbClr val="DCE8FA"/>
                    </a:solidFill>
                  </a:tcPr>
                </a:tc>
              </a:tr>
              <a:tr h="332647">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gemma4:12b</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0B9C7"/>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0B9C7"/>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95%</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0B9C7"/>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0B9C7"/>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75</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0B9C7"/>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gemma4:26b MoE (alt.)</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8B7AE"/>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8B7AE"/>
                      </a:solidFill>
                      <a:prstDash val="solid"/>
                      <a:round/>
                      <a:headEnd type="none" w="med" len="med"/>
                      <a:tailEnd type="none" w="med" len="med"/>
                    </a:lnB>
                    <a:solidFill>
                      <a:srgbClr val="FBE5DA"/>
                    </a:solidFill>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marL="53340" marR="53340" marT="53340" marB="53340" anchor="t">
                    <a:lnL w="12700" cap="flat" cmpd="sng" algn="ctr">
                      <a:solidFill>
                        <a:srgbClr val="C8B7AE"/>
                      </a:solidFill>
                      <a:prstDash val="solid"/>
                      <a:round/>
                      <a:headEnd type="none" w="med" len="med"/>
                      <a:tailEnd type="none" w="med" len="med"/>
                    </a:lnL>
                    <a:lnR w="12700" cap="flat" cmpd="sng" algn="ctr">
                      <a:solidFill>
                        <a:srgbClr val="C8B7AE"/>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8B7AE"/>
                      </a:solidFill>
                      <a:prstDash val="solid"/>
                      <a:round/>
                      <a:headEnd type="none" w="med" len="med"/>
                      <a:tailEnd type="none" w="med" len="med"/>
                    </a:lnB>
                    <a:solidFill>
                      <a:srgbClr val="FBE5DA"/>
                    </a:solidFill>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98%</a:t>
                      </a:r>
                      <a:endParaRPr lang="en-US" sz="1200" dirty="0">
                        <a:latin typeface="Arial" charset="0"/>
                        <a:ea typeface="Arial" charset="0"/>
                        <a:cs typeface="Arial" charset="0"/>
                      </a:endParaRPr>
                    </a:p>
                  </a:txBody>
                  <a:tcPr marL="53340" marR="53340" marT="53340" marB="53340" anchor="t">
                    <a:lnL w="12700" cap="flat" cmpd="sng" algn="ctr">
                      <a:solidFill>
                        <a:srgbClr val="C8B7AE"/>
                      </a:solidFill>
                      <a:prstDash val="solid"/>
                      <a:round/>
                      <a:headEnd type="none" w="med" len="med"/>
                      <a:tailEnd type="none" w="med" len="med"/>
                    </a:lnL>
                    <a:lnR w="12700" cap="flat" cmpd="sng" algn="ctr">
                      <a:solidFill>
                        <a:srgbClr val="C8B7AE"/>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8B7AE"/>
                      </a:solidFill>
                      <a:prstDash val="solid"/>
                      <a:round/>
                      <a:headEnd type="none" w="med" len="med"/>
                      <a:tailEnd type="none" w="med" len="med"/>
                    </a:lnB>
                    <a:solidFill>
                      <a:srgbClr val="FBE5DA"/>
                    </a:solidFill>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2.9</a:t>
                      </a:r>
                      <a:endParaRPr lang="en-US" sz="1200" dirty="0">
                        <a:latin typeface="Arial" charset="0"/>
                        <a:ea typeface="Arial" charset="0"/>
                        <a:cs typeface="Arial" charset="0"/>
                      </a:endParaRPr>
                    </a:p>
                  </a:txBody>
                  <a:tcPr marL="53340" marR="53340" marT="53340" marB="53340" anchor="t">
                    <a:lnL w="12700" cap="flat" cmpd="sng" algn="ctr">
                      <a:solidFill>
                        <a:srgbClr val="C8B7AE"/>
                      </a:solidFill>
                      <a:prstDash val="solid"/>
                      <a:round/>
                      <a:headEnd type="none" w="med" len="med"/>
                      <a:tailEnd type="none" w="med" len="med"/>
                    </a:lnL>
                    <a:lnR w="12700" cap="flat" cmpd="sng" algn="ctr">
                      <a:solidFill>
                        <a:srgbClr val="C8B7AE"/>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8B7AE"/>
                      </a:solidFill>
                      <a:prstDash val="solid"/>
                      <a:round/>
                      <a:headEnd type="none" w="med" len="med"/>
                      <a:tailEnd type="none" w="med" len="med"/>
                    </a:lnB>
                    <a:solidFill>
                      <a:srgbClr val="FBE5DA"/>
                    </a:solidFill>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102</a:t>
                      </a:r>
                      <a:endParaRPr lang="en-US" sz="1200" dirty="0">
                        <a:latin typeface="Arial" charset="0"/>
                        <a:ea typeface="Arial" charset="0"/>
                        <a:cs typeface="Arial" charset="0"/>
                      </a:endParaRPr>
                    </a:p>
                  </a:txBody>
                  <a:tcPr marL="53340" marR="53340" marT="53340" marB="53340" anchor="t">
                    <a:lnL w="12700" cap="flat" cmpd="sng" algn="ctr">
                      <a:solidFill>
                        <a:srgbClr val="C8B7AE"/>
                      </a:solidFill>
                      <a:prstDash val="solid"/>
                      <a:round/>
                      <a:headEnd type="none" w="med" len="med"/>
                      <a:tailEnd type="none" w="med" len="med"/>
                    </a:lnL>
                    <a:lnR w="12700" cap="flat" cmpd="sng" algn="ctr">
                      <a:solidFill>
                        <a:srgbClr val="C8B7AE"/>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8B7AE"/>
                      </a:solidFill>
                      <a:prstDash val="solid"/>
                      <a:round/>
                      <a:headEnd type="none" w="med" len="med"/>
                      <a:tailEnd type="none" w="med" len="med"/>
                    </a:lnB>
                    <a:solidFill>
                      <a:srgbClr val="FBE5DA"/>
                    </a:solidFill>
                  </a:tcPr>
                </a:tc>
              </a:tr>
              <a:tr h="332647">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qwen3.5:27b</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8B7AE"/>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27</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8B7AE"/>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99%</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8B7AE"/>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10.8</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8B7AE"/>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26</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8B7AE"/>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qwen3.8:27b</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27</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99%</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7.7</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37</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gemma4:31b</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31</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97%</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8.5</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Arial" pitchFamily="34" charset="0"/>
                          <a:ea typeface="Arial" pitchFamily="34" charset="-122"/>
                          <a:cs typeface="Arial" pitchFamily="34" charset="-120"/>
                        </a:rPr>
                        <a:t>21</a:t>
                      </a:r>
                      <a:endParaRPr lang="en-US" sz="1200" dirty="0">
                        <a:latin typeface="Arial" charset="0"/>
                        <a:ea typeface="Arial" charset="0"/>
                        <a:cs typeface="Arial" charset="0"/>
                      </a:endParaRPr>
                    </a:p>
                  </a:txBody>
                  <a:tcPr marL="53340" marR="53340" marT="53340" marB="5334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5" name="Shape 2"/>
          <p:cNvSpPr/>
          <p:nvPr/>
        </p:nvSpPr>
        <p:spPr>
          <a:xfrm>
            <a:off x="7012583" y="1650934"/>
            <a:ext cx="4366617" cy="934641"/>
          </a:xfrm>
          <a:prstGeom prst="roundRect">
            <a:avLst>
              <a:gd name="adj" fmla="val 8153"/>
            </a:avLst>
          </a:prstGeom>
          <a:solidFill>
            <a:srgbClr val="FFFFFF"/>
          </a:solidFill>
          <a:ln/>
        </p:spPr>
      </p:sp>
      <p:sp>
        <p:nvSpPr>
          <p:cNvPr id="6" name="Shape 3"/>
          <p:cNvSpPr/>
          <p:nvPr/>
        </p:nvSpPr>
        <p:spPr>
          <a:xfrm>
            <a:off x="7012583" y="1650934"/>
            <a:ext cx="4366617" cy="934641"/>
          </a:xfrm>
          <a:custGeom>
            <a:avLst/>
            <a:gdLst/>
            <a:ahLst/>
            <a:cxnLst/>
            <a:rect l="l" t="t" r="r" b="b"/>
            <a:pathLst>
              <a:path w="4366617" h="934641">
                <a:moveTo>
                  <a:pt x="76200" y="934641"/>
                </a:moveTo>
                <a:lnTo>
                  <a:pt x="76200" y="934641"/>
                </a:lnTo>
                <a:arcTo hR="76200" wR="76200" stAng="5400000" swAng="5400000"/>
                <a:lnTo>
                  <a:pt x="0" y="76200"/>
                </a:lnTo>
                <a:arcTo hR="76200" wR="76200" stAng="10800000" swAng="5400000"/>
                <a:lnTo>
                  <a:pt x="76200" y="0"/>
                </a:lnTo>
                <a:arcTo hR="76200" wR="38100" stAng="16200000" swAng="-5400000"/>
                <a:lnTo>
                  <a:pt x="38100" y="858441"/>
                </a:lnTo>
                <a:arcTo hR="76200" wR="38100" stAng="10800000" swAng="-5400000"/>
                <a:close/>
              </a:path>
            </a:pathLst>
          </a:custGeom>
          <a:solidFill>
            <a:srgbClr val="2A6FD6"/>
          </a:solidFill>
          <a:ln/>
        </p:spPr>
      </p:sp>
      <p:sp>
        <p:nvSpPr>
          <p:cNvPr id="7" name="Text 4"/>
          <p:cNvSpPr/>
          <p:nvPr/>
        </p:nvSpPr>
        <p:spPr>
          <a:xfrm>
            <a:off x="7228483" y="1777934"/>
            <a:ext cx="4092105"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Default: qwen3.5:9b, thinking off</a:t>
            </a:r>
            <a:endParaRPr lang="en-US" sz="1300" dirty="0"/>
          </a:p>
        </p:txBody>
      </p:sp>
      <p:sp>
        <p:nvSpPr>
          <p:cNvPr id="8" name="Text 5"/>
          <p:cNvSpPr/>
          <p:nvPr/>
        </p:nvSpPr>
        <p:spPr>
          <a:xfrm>
            <a:off x="7228483" y="2047148"/>
            <a:ext cx="409210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Arial" pitchFamily="34" charset="0"/>
                <a:ea typeface="Arial" pitchFamily="34" charset="-122"/>
                <a:cs typeface="Arial" pitchFamily="34" charset="-120"/>
              </a:rPr>
              <a:t>99% correct, 2.7 s per answer, 5.5 GB VRAM. Bigger dense models: no gain.</a:t>
            </a:r>
            <a:endParaRPr lang="en-US" sz="1200" dirty="0"/>
          </a:p>
        </p:txBody>
      </p:sp>
      <p:sp>
        <p:nvSpPr>
          <p:cNvPr id="9" name="Shape 6"/>
          <p:cNvSpPr/>
          <p:nvPr/>
        </p:nvSpPr>
        <p:spPr>
          <a:xfrm>
            <a:off x="7012583" y="2687175"/>
            <a:ext cx="4366617" cy="934641"/>
          </a:xfrm>
          <a:prstGeom prst="roundRect">
            <a:avLst>
              <a:gd name="adj" fmla="val 8153"/>
            </a:avLst>
          </a:prstGeom>
          <a:solidFill>
            <a:srgbClr val="FFFFFF"/>
          </a:solidFill>
          <a:ln/>
        </p:spPr>
      </p:sp>
      <p:sp>
        <p:nvSpPr>
          <p:cNvPr id="10" name="Shape 7"/>
          <p:cNvSpPr/>
          <p:nvPr/>
        </p:nvSpPr>
        <p:spPr>
          <a:xfrm>
            <a:off x="7012583" y="2687175"/>
            <a:ext cx="4366617" cy="934641"/>
          </a:xfrm>
          <a:custGeom>
            <a:avLst/>
            <a:gdLst/>
            <a:ahLst/>
            <a:cxnLst/>
            <a:rect l="l" t="t" r="r" b="b"/>
            <a:pathLst>
              <a:path w="4366617" h="934641">
                <a:moveTo>
                  <a:pt x="76200" y="934641"/>
                </a:moveTo>
                <a:lnTo>
                  <a:pt x="76200" y="934641"/>
                </a:lnTo>
                <a:arcTo hR="76200" wR="76200" stAng="5400000" swAng="5400000"/>
                <a:lnTo>
                  <a:pt x="0" y="76200"/>
                </a:lnTo>
                <a:arcTo hR="76200" wR="76200" stAng="10800000" swAng="5400000"/>
                <a:lnTo>
                  <a:pt x="76200" y="0"/>
                </a:lnTo>
                <a:arcTo hR="76200" wR="38100" stAng="16200000" swAng="-5400000"/>
                <a:lnTo>
                  <a:pt x="38100" y="858441"/>
                </a:lnTo>
                <a:arcTo hR="76200" wR="38100" stAng="10800000" swAng="-5400000"/>
                <a:close/>
              </a:path>
            </a:pathLst>
          </a:custGeom>
          <a:solidFill>
            <a:srgbClr val="E0612B"/>
          </a:solidFill>
          <a:ln/>
        </p:spPr>
      </p:sp>
      <p:sp>
        <p:nvSpPr>
          <p:cNvPr id="11" name="Text 8"/>
          <p:cNvSpPr/>
          <p:nvPr/>
        </p:nvSpPr>
        <p:spPr>
          <a:xfrm>
            <a:off x="7228483" y="2814175"/>
            <a:ext cx="4092105"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Alternative: gemma4:26b (MoE)</a:t>
            </a:r>
            <a:endParaRPr lang="en-US" sz="1300" dirty="0"/>
          </a:p>
        </p:txBody>
      </p:sp>
      <p:sp>
        <p:nvSpPr>
          <p:cNvPr id="12" name="Text 9"/>
          <p:cNvSpPr/>
          <p:nvPr/>
        </p:nvSpPr>
        <p:spPr>
          <a:xfrm>
            <a:off x="7228483" y="3083389"/>
            <a:ext cx="409210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Arial" pitchFamily="34" charset="0"/>
                <a:ea typeface="Arial" pitchFamily="34" charset="-122"/>
                <a:cs typeface="Arial" pitchFamily="34" charset="-120"/>
              </a:rPr>
              <a:t>98% correct at 102 tok/s, 3–5× faster than dense 27–31B, but 17.4 GB VRAM.</a:t>
            </a:r>
            <a:endParaRPr lang="en-US" sz="1200" dirty="0"/>
          </a:p>
        </p:txBody>
      </p:sp>
      <p:sp>
        <p:nvSpPr>
          <p:cNvPr id="13" name="Shape 10"/>
          <p:cNvSpPr/>
          <p:nvPr/>
        </p:nvSpPr>
        <p:spPr>
          <a:xfrm>
            <a:off x="7012583" y="3723415"/>
            <a:ext cx="4366617" cy="934641"/>
          </a:xfrm>
          <a:prstGeom prst="roundRect">
            <a:avLst>
              <a:gd name="adj" fmla="val 8153"/>
            </a:avLst>
          </a:prstGeom>
          <a:solidFill>
            <a:srgbClr val="FFFFFF"/>
          </a:solidFill>
          <a:ln/>
        </p:spPr>
      </p:sp>
      <p:sp>
        <p:nvSpPr>
          <p:cNvPr id="14" name="Shape 11"/>
          <p:cNvSpPr/>
          <p:nvPr/>
        </p:nvSpPr>
        <p:spPr>
          <a:xfrm>
            <a:off x="7012583" y="3723415"/>
            <a:ext cx="4366617" cy="934641"/>
          </a:xfrm>
          <a:custGeom>
            <a:avLst/>
            <a:gdLst/>
            <a:ahLst/>
            <a:cxnLst/>
            <a:rect l="l" t="t" r="r" b="b"/>
            <a:pathLst>
              <a:path w="4366617" h="934641">
                <a:moveTo>
                  <a:pt x="76200" y="934641"/>
                </a:moveTo>
                <a:lnTo>
                  <a:pt x="76200" y="934641"/>
                </a:lnTo>
                <a:arcTo hR="76200" wR="76200" stAng="5400000" swAng="5400000"/>
                <a:lnTo>
                  <a:pt x="0" y="76200"/>
                </a:lnTo>
                <a:arcTo hR="76200" wR="76200" stAng="10800000" swAng="5400000"/>
                <a:lnTo>
                  <a:pt x="76200" y="0"/>
                </a:lnTo>
                <a:arcTo hR="76200" wR="38100" stAng="16200000" swAng="-5400000"/>
                <a:lnTo>
                  <a:pt x="38100" y="858441"/>
                </a:lnTo>
                <a:arcTo hR="76200" wR="38100" stAng="10800000" swAng="-5400000"/>
                <a:close/>
              </a:path>
            </a:pathLst>
          </a:custGeom>
          <a:solidFill>
            <a:srgbClr val="14213D"/>
          </a:solidFill>
          <a:ln/>
        </p:spPr>
      </p:sp>
      <p:sp>
        <p:nvSpPr>
          <p:cNvPr id="15" name="Text 12"/>
          <p:cNvSpPr/>
          <p:nvPr/>
        </p:nvSpPr>
        <p:spPr>
          <a:xfrm>
            <a:off x="7228483" y="3850415"/>
            <a:ext cx="4092105"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PII detection stays rule-based</a:t>
            </a:r>
            <a:endParaRPr lang="en-US" sz="1300" dirty="0"/>
          </a:p>
        </p:txBody>
      </p:sp>
      <p:sp>
        <p:nvSpPr>
          <p:cNvPr id="16" name="Text 13"/>
          <p:cNvSpPr/>
          <p:nvPr/>
        </p:nvSpPr>
        <p:spPr>
          <a:xfrm>
            <a:off x="7228483" y="4119629"/>
            <a:ext cx="409210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Arial" pitchFamily="34" charset="0"/>
                <a:ea typeface="Arial" pitchFamily="34" charset="-122"/>
                <a:cs typeface="Arial" pitchFamily="34" charset="-120"/>
              </a:rPr>
              <a:t>6 of 11 models called a question with a student ID "not sensitive".</a:t>
            </a:r>
            <a:endParaRPr lang="en-US" sz="1200" dirty="0"/>
          </a:p>
        </p:txBody>
      </p:sp>
      <p:sp>
        <p:nvSpPr>
          <p:cNvPr id="17" name="Shape 14"/>
          <p:cNvSpPr/>
          <p:nvPr/>
        </p:nvSpPr>
        <p:spPr>
          <a:xfrm>
            <a:off x="7012583" y="4759656"/>
            <a:ext cx="4366617" cy="728927"/>
          </a:xfrm>
          <a:prstGeom prst="roundRect">
            <a:avLst>
              <a:gd name="adj" fmla="val 10454"/>
            </a:avLst>
          </a:prstGeom>
          <a:solidFill>
            <a:srgbClr val="FFFFFF"/>
          </a:solidFill>
          <a:ln/>
        </p:spPr>
      </p:sp>
      <p:sp>
        <p:nvSpPr>
          <p:cNvPr id="18" name="Shape 15"/>
          <p:cNvSpPr/>
          <p:nvPr/>
        </p:nvSpPr>
        <p:spPr>
          <a:xfrm>
            <a:off x="7012583" y="4759656"/>
            <a:ext cx="4366617" cy="728927"/>
          </a:xfrm>
          <a:custGeom>
            <a:avLst/>
            <a:gdLst/>
            <a:ahLst/>
            <a:cxnLst/>
            <a:rect l="l" t="t" r="r" b="b"/>
            <a:pathLst>
              <a:path w="4366617" h="728927">
                <a:moveTo>
                  <a:pt x="76200" y="728927"/>
                </a:moveTo>
                <a:lnTo>
                  <a:pt x="76200" y="728927"/>
                </a:lnTo>
                <a:arcTo hR="76200" wR="76200" stAng="5400000" swAng="5400000"/>
                <a:lnTo>
                  <a:pt x="0" y="76200"/>
                </a:lnTo>
                <a:arcTo hR="76200" wR="76200" stAng="10800000" swAng="5400000"/>
                <a:lnTo>
                  <a:pt x="76200" y="0"/>
                </a:lnTo>
                <a:arcTo hR="76200" wR="38100" stAng="16200000" swAng="-5400000"/>
                <a:lnTo>
                  <a:pt x="38100" y="652727"/>
                </a:lnTo>
                <a:arcTo hR="76200" wR="38100" stAng="10800000" swAng="-5400000"/>
                <a:close/>
              </a:path>
            </a:pathLst>
          </a:custGeom>
          <a:solidFill>
            <a:srgbClr val="14213D"/>
          </a:solidFill>
          <a:ln/>
        </p:spPr>
      </p:sp>
      <p:sp>
        <p:nvSpPr>
          <p:cNvPr id="19" name="Text 16"/>
          <p:cNvSpPr/>
          <p:nvPr/>
        </p:nvSpPr>
        <p:spPr>
          <a:xfrm>
            <a:off x="7228483" y="4886656"/>
            <a:ext cx="4092105"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Facts need RAG and verification</a:t>
            </a:r>
            <a:endParaRPr lang="en-US" sz="1300" dirty="0"/>
          </a:p>
        </p:txBody>
      </p:sp>
      <p:sp>
        <p:nvSpPr>
          <p:cNvPr id="20" name="Text 17"/>
          <p:cNvSpPr/>
          <p:nvPr/>
        </p:nvSpPr>
        <p:spPr>
          <a:xfrm>
            <a:off x="7228483" y="5155870"/>
            <a:ext cx="415071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Arial" pitchFamily="34" charset="0"/>
                <a:ea typeface="Arial" pitchFamily="34" charset="-122"/>
                <a:cs typeface="Arial" pitchFamily="34" charset="-120"/>
              </a:rPr>
              <a:t>Up to 12B, five models invented the author of a real paper.</a:t>
            </a:r>
            <a:endParaRPr lang="en-US" sz="1200" dirty="0"/>
          </a:p>
        </p:txBody>
      </p:sp>
      <p:sp>
        <p:nvSpPr>
          <p:cNvPr id="21"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Caveat: 9B+ models reach the top level in every dimension · 5 questions per cell · warm, single-user latency</a:t>
            </a:r>
            <a:endParaRPr lang="en-US" sz="1200" dirty="0"/>
          </a:p>
        </p:txBody>
      </p:sp>
    </p:spTree>
  </p:cSld>
  <p:clrMapOvr>
    <a:masterClrMapping/>
  </p:clrMapOvr>
</p:sld>
</file>

<file path=ppt/theme/theme1.xml><?xml version="1.0" encoding="utf-8"?>
<a:theme xmlns:a="http://schemas.openxmlformats.org/drawingml/2006/main" name="Local Model Capability Test">
  <a:themeElements>
    <a:clrScheme name="Local Model Capability Test">
      <a:dk1>
        <a:srgbClr val="4A5568"/>
      </a:dk1>
      <a:lt1>
        <a:srgbClr val="FBFBF8"/>
      </a:lt1>
      <a:dk2>
        <a:srgbClr val="767F8C"/>
      </a:dk2>
      <a:lt2>
        <a:srgbClr val="E9EAEA"/>
      </a:lt2>
      <a:accent1>
        <a:srgbClr val="14213D"/>
      </a:accent1>
      <a:accent2>
        <a:srgbClr val="2A6FD6"/>
      </a:accent2>
      <a:accent3>
        <a:srgbClr val="6B7280"/>
      </a:accent3>
      <a:accent4>
        <a:srgbClr val="9AA0A6"/>
      </a:accent4>
      <a:accent5>
        <a:srgbClr val="9197A2"/>
      </a:accent5>
      <a:accent6>
        <a:srgbClr val="ABB0B7"/>
      </a:accent6>
      <a:hlink>
        <a:srgbClr val="0563C1"/>
      </a:hlink>
      <a:folHlink>
        <a:srgbClr val="954F72"/>
      </a:folHlink>
    </a:clrScheme>
    <a:fontScheme name="Local Model Capability Tes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Local Model Capability Test</dc:title>
  <dc:subject/>
  <dc:creator/>
  <cp:lastModifiedBy/>
  <cp:revision>1</cp:revision>
  <dcterms:created xsi:type="dcterms:W3CDTF">2026-10-06T14:03:12Z</dcterms:created>
  <dcterms:modified xsi:type="dcterms:W3CDTF">2026-10-06T14:03:12Z</dcterms:modified>
</cp:coreProperties>
</file>